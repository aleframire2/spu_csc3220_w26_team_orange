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embeddedFontLst>
    <p:embeddedFont>
      <p:font typeface="Urbanist Medium"/>
      <p:regular r:id="rId14"/>
      <p:bold r:id="rId15"/>
      <p:italic r:id="rId16"/>
      <p:boldItalic r:id="rId17"/>
    </p:embeddedFont>
    <p:embeddedFont>
      <p:font typeface="Urbanist"/>
      <p:regular r:id="rId18"/>
      <p:bold r:id="rId19"/>
      <p:italic r:id="rId20"/>
      <p:boldItalic r:id="rId21"/>
    </p:embeddedFont>
    <p:embeddedFont>
      <p:font typeface="Azeret Mono"/>
      <p:regular r:id="rId22"/>
      <p:bold r:id="rId23"/>
      <p:italic r:id="rId24"/>
      <p:boldItalic r:id="rId25"/>
    </p:embeddedFont>
    <p:embeddedFont>
      <p:font typeface="Azeret Mono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italic.fntdata"/><Relationship Id="rId22" Type="http://schemas.openxmlformats.org/officeDocument/2006/relationships/font" Target="fonts/AzeretMono-regular.fntdata"/><Relationship Id="rId21" Type="http://schemas.openxmlformats.org/officeDocument/2006/relationships/font" Target="fonts/Urbanist-boldItalic.fntdata"/><Relationship Id="rId24" Type="http://schemas.openxmlformats.org/officeDocument/2006/relationships/font" Target="fonts/AzeretMono-italic.fntdata"/><Relationship Id="rId23" Type="http://schemas.openxmlformats.org/officeDocument/2006/relationships/font" Target="fonts/AzeretMon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zeretMonoMedium-regular.fntdata"/><Relationship Id="rId25" Type="http://schemas.openxmlformats.org/officeDocument/2006/relationships/font" Target="fonts/AzeretMono-boldItalic.fntdata"/><Relationship Id="rId28" Type="http://schemas.openxmlformats.org/officeDocument/2006/relationships/font" Target="fonts/AzeretMonoMedium-italic.fntdata"/><Relationship Id="rId27" Type="http://schemas.openxmlformats.org/officeDocument/2006/relationships/font" Target="fonts/AzeretMono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zeretMonoMedium-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UrbanistMedium-bold.fntdata"/><Relationship Id="rId14" Type="http://schemas.openxmlformats.org/officeDocument/2006/relationships/font" Target="fonts/UrbanistMedium-regular.fntdata"/><Relationship Id="rId17" Type="http://schemas.openxmlformats.org/officeDocument/2006/relationships/font" Target="fonts/UrbanistMedium-boldItalic.fntdata"/><Relationship Id="rId16" Type="http://schemas.openxmlformats.org/officeDocument/2006/relationships/font" Target="fonts/UrbanistMedium-italic.fntdata"/><Relationship Id="rId19" Type="http://schemas.openxmlformats.org/officeDocument/2006/relationships/font" Target="fonts/Urbanist-bold.fntdata"/><Relationship Id="rId18" Type="http://schemas.openxmlformats.org/officeDocument/2006/relationships/font" Target="fonts/Urbanis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2.png"/><Relationship Id="rId9"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14.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95275" y="2876550"/>
            <a:ext cx="11601450" cy="62865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4500" u="none" cap="none" strike="noStrike">
                <a:solidFill>
                  <a:srgbClr val="F8FAFC"/>
                </a:solidFill>
                <a:latin typeface="Urbanist Medium"/>
                <a:ea typeface="Urbanist Medium"/>
                <a:cs typeface="Urbanist Medium"/>
                <a:sym typeface="Urbanist Medium"/>
              </a:rPr>
              <a:t>NarrativeLink: </a:t>
            </a:r>
            <a:r>
              <a:rPr b="0" i="0" lang="en-US" sz="4500" u="none" cap="none" strike="noStrike">
                <a:solidFill>
                  <a:srgbClr val="10B981"/>
                </a:solidFill>
                <a:latin typeface="Urbanist Medium"/>
                <a:ea typeface="Urbanist Medium"/>
                <a:cs typeface="Urbanist Medium"/>
                <a:sym typeface="Urbanist Medium"/>
              </a:rPr>
              <a:t>Schema &amp; Queries</a:t>
            </a:r>
            <a:endParaRPr/>
          </a:p>
        </p:txBody>
      </p:sp>
      <p:sp>
        <p:nvSpPr>
          <p:cNvPr id="86" name="Google Shape;86;p13"/>
          <p:cNvSpPr txBox="1"/>
          <p:nvPr/>
        </p:nvSpPr>
        <p:spPr>
          <a:xfrm>
            <a:off x="2286000" y="3695700"/>
            <a:ext cx="7620000" cy="285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Team Orange | CSC3220 Draft Presentation | Mason Harris, Dan Kalenga, Alef Ramirez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571500" y="1995487"/>
            <a:ext cx="3429000" cy="3800475"/>
          </a:xfrm>
          <a:prstGeom prst="rect">
            <a:avLst/>
          </a:prstGeom>
          <a:noFill/>
          <a:ln>
            <a:noFill/>
          </a:ln>
        </p:spPr>
      </p:pic>
      <p:pic>
        <p:nvPicPr>
          <p:cNvPr descr="image.png" id="93" name="Google Shape;93;p14"/>
          <p:cNvPicPr preferRelativeResize="0"/>
          <p:nvPr/>
        </p:nvPicPr>
        <p:blipFill rotWithShape="1">
          <a:blip r:embed="rId5">
            <a:alphaModFix/>
          </a:blip>
          <a:srcRect b="0" l="0" r="0" t="0"/>
          <a:stretch/>
        </p:blipFill>
        <p:spPr>
          <a:xfrm>
            <a:off x="4381500" y="1995487"/>
            <a:ext cx="3429000" cy="3800475"/>
          </a:xfrm>
          <a:prstGeom prst="rect">
            <a:avLst/>
          </a:prstGeom>
          <a:noFill/>
          <a:ln>
            <a:noFill/>
          </a:ln>
        </p:spPr>
      </p:pic>
      <p:pic>
        <p:nvPicPr>
          <p:cNvPr descr="image.png" id="94" name="Google Shape;94;p14"/>
          <p:cNvPicPr preferRelativeResize="0"/>
          <p:nvPr/>
        </p:nvPicPr>
        <p:blipFill rotWithShape="1">
          <a:blip r:embed="rId6">
            <a:alphaModFix/>
          </a:blip>
          <a:srcRect b="0" l="0" r="0" t="0"/>
          <a:stretch/>
        </p:blipFill>
        <p:spPr>
          <a:xfrm>
            <a:off x="8191500" y="1995487"/>
            <a:ext cx="3429000" cy="3800475"/>
          </a:xfrm>
          <a:prstGeom prst="rect">
            <a:avLst/>
          </a:prstGeom>
          <a:noFill/>
          <a:ln>
            <a:noFill/>
          </a:ln>
        </p:spPr>
      </p:pic>
      <p:sp>
        <p:nvSpPr>
          <p:cNvPr id="95" name="Google Shape;95;p14"/>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8FAFC"/>
                </a:solidFill>
                <a:latin typeface="Urbanist Medium"/>
                <a:ea typeface="Urbanist Medium"/>
                <a:cs typeface="Urbanist Medium"/>
                <a:sym typeface="Urbanist Medium"/>
              </a:rPr>
              <a:t>Application Features</a:t>
            </a:r>
            <a:endParaRPr/>
          </a:p>
        </p:txBody>
      </p:sp>
      <p:sp>
        <p:nvSpPr>
          <p:cNvPr id="96" name="Google Shape;96;p14"/>
          <p:cNvSpPr txBox="1"/>
          <p:nvPr/>
        </p:nvSpPr>
        <p:spPr>
          <a:xfrm>
            <a:off x="1255871" y="3176587"/>
            <a:ext cx="2060257"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8FAFC"/>
                </a:solidFill>
                <a:latin typeface="Urbanist Medium"/>
                <a:ea typeface="Urbanist Medium"/>
                <a:cs typeface="Urbanist Medium"/>
                <a:sym typeface="Urbanist Medium"/>
              </a:rPr>
              <a:t>Offline &amp; Private</a:t>
            </a:r>
            <a:endParaRPr/>
          </a:p>
        </p:txBody>
      </p:sp>
      <p:sp>
        <p:nvSpPr>
          <p:cNvPr id="97" name="Google Shape;97;p14"/>
          <p:cNvSpPr txBox="1"/>
          <p:nvPr/>
        </p:nvSpPr>
        <p:spPr>
          <a:xfrm>
            <a:off x="866775" y="3690937"/>
            <a:ext cx="2838450" cy="1714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A fully offline command-line writing tool. Zero cloud dependencies guarantee that your creative drafts and metadata remain completely local and private.</a:t>
            </a:r>
            <a:endParaRPr/>
          </a:p>
        </p:txBody>
      </p:sp>
      <p:sp>
        <p:nvSpPr>
          <p:cNvPr id="98" name="Google Shape;98;p14"/>
          <p:cNvSpPr txBox="1"/>
          <p:nvPr/>
        </p:nvSpPr>
        <p:spPr>
          <a:xfrm>
            <a:off x="4810839" y="3176587"/>
            <a:ext cx="2570321"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8FAFC"/>
                </a:solidFill>
                <a:latin typeface="Urbanist Medium"/>
                <a:ea typeface="Urbanist Medium"/>
                <a:cs typeface="Urbanist Medium"/>
                <a:sym typeface="Urbanist Medium"/>
              </a:rPr>
              <a:t>Gamified Mechanics</a:t>
            </a:r>
            <a:endParaRPr/>
          </a:p>
        </p:txBody>
      </p:sp>
      <p:sp>
        <p:nvSpPr>
          <p:cNvPr id="99" name="Google Shape;99;p14"/>
          <p:cNvSpPr txBox="1"/>
          <p:nvPr/>
        </p:nvSpPr>
        <p:spPr>
          <a:xfrm>
            <a:off x="4676775" y="3690937"/>
            <a:ext cx="2838450" cy="1428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Fights writer's block using a high-pressure "Chain Reaction" feature. Type related words against a strict countdown timer to build your narrative framework.</a:t>
            </a:r>
            <a:endParaRPr/>
          </a:p>
        </p:txBody>
      </p:sp>
      <p:sp>
        <p:nvSpPr>
          <p:cNvPr id="100" name="Google Shape;100;p14"/>
          <p:cNvSpPr txBox="1"/>
          <p:nvPr/>
        </p:nvSpPr>
        <p:spPr>
          <a:xfrm>
            <a:off x="8985885" y="3176587"/>
            <a:ext cx="1840230"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8FAFC"/>
                </a:solidFill>
                <a:latin typeface="Urbanist Medium"/>
                <a:ea typeface="Urbanist Medium"/>
                <a:cs typeface="Urbanist Medium"/>
                <a:sym typeface="Urbanist Medium"/>
              </a:rPr>
              <a:t>Local Analytics</a:t>
            </a:r>
            <a:endParaRPr/>
          </a:p>
        </p:txBody>
      </p:sp>
      <p:sp>
        <p:nvSpPr>
          <p:cNvPr id="101" name="Google Shape;101;p14"/>
          <p:cNvSpPr txBox="1"/>
          <p:nvPr/>
        </p:nvSpPr>
        <p:spPr>
          <a:xfrm>
            <a:off x="8486775" y="3690937"/>
            <a:ext cx="2838450" cy="1428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CBD5E1"/>
                </a:solidFill>
                <a:latin typeface="Urbanist"/>
                <a:ea typeface="Urbanist"/>
                <a:cs typeface="Urbanist"/>
                <a:sym typeface="Urbanist"/>
              </a:rPr>
              <a:t>Uses an embedded SQLite database for lightning-fast local persistence and calculates Flesch Readability scores natively using heuristic algorithms.</a:t>
            </a:r>
            <a:endParaRPr/>
          </a:p>
        </p:txBody>
      </p:sp>
      <p:pic>
        <p:nvPicPr>
          <p:cNvPr descr="image.png" id="102" name="Google Shape;102;p14"/>
          <p:cNvPicPr preferRelativeResize="0"/>
          <p:nvPr/>
        </p:nvPicPr>
        <p:blipFill rotWithShape="1">
          <a:blip r:embed="rId7">
            <a:alphaModFix/>
          </a:blip>
          <a:srcRect b="0" l="0" r="0" t="0"/>
          <a:stretch/>
        </p:blipFill>
        <p:spPr>
          <a:xfrm>
            <a:off x="2000250" y="2424112"/>
            <a:ext cx="571500" cy="457200"/>
          </a:xfrm>
          <a:prstGeom prst="rect">
            <a:avLst/>
          </a:prstGeom>
          <a:noFill/>
          <a:ln>
            <a:noFill/>
          </a:ln>
        </p:spPr>
      </p:pic>
      <p:pic>
        <p:nvPicPr>
          <p:cNvPr descr="image.png" id="103" name="Google Shape;103;p14"/>
          <p:cNvPicPr preferRelativeResize="0"/>
          <p:nvPr/>
        </p:nvPicPr>
        <p:blipFill rotWithShape="1">
          <a:blip r:embed="rId8">
            <a:alphaModFix/>
          </a:blip>
          <a:srcRect b="0" l="0" r="0" t="0"/>
          <a:stretch/>
        </p:blipFill>
        <p:spPr>
          <a:xfrm>
            <a:off x="5810250" y="2424112"/>
            <a:ext cx="571500" cy="457200"/>
          </a:xfrm>
          <a:prstGeom prst="rect">
            <a:avLst/>
          </a:prstGeom>
          <a:noFill/>
          <a:ln>
            <a:noFill/>
          </a:ln>
        </p:spPr>
      </p:pic>
      <p:pic>
        <p:nvPicPr>
          <p:cNvPr descr="image.png" id="104" name="Google Shape;104;p14"/>
          <p:cNvPicPr preferRelativeResize="0"/>
          <p:nvPr/>
        </p:nvPicPr>
        <p:blipFill rotWithShape="1">
          <a:blip r:embed="rId9">
            <a:alphaModFix/>
          </a:blip>
          <a:srcRect b="0" l="0" r="0" t="0"/>
          <a:stretch/>
        </p:blipFill>
        <p:spPr>
          <a:xfrm>
            <a:off x="9705975" y="2424112"/>
            <a:ext cx="400050" cy="45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8" name="Shape 108"/>
        <p:cNvGrpSpPr/>
        <p:nvPr/>
      </p:nvGrpSpPr>
      <p:grpSpPr>
        <a:xfrm>
          <a:off x="0" y="0"/>
          <a:ext cx="0" cy="0"/>
          <a:chOff x="0" y="0"/>
          <a:chExt cx="0" cy="0"/>
        </a:xfrm>
      </p:grpSpPr>
      <p:pic>
        <p:nvPicPr>
          <p:cNvPr descr="image.png" id="109" name="Google Shape;109;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0" name="Google Shape;110;p15"/>
          <p:cNvPicPr preferRelativeResize="0"/>
          <p:nvPr/>
        </p:nvPicPr>
        <p:blipFill rotWithShape="1">
          <a:blip r:embed="rId4">
            <a:alphaModFix/>
          </a:blip>
          <a:srcRect b="0" l="0" r="0" t="0"/>
          <a:stretch/>
        </p:blipFill>
        <p:spPr>
          <a:xfrm>
            <a:off x="571500" y="1504950"/>
            <a:ext cx="5286375" cy="4781550"/>
          </a:xfrm>
          <a:prstGeom prst="rect">
            <a:avLst/>
          </a:prstGeom>
          <a:noFill/>
          <a:ln>
            <a:noFill/>
          </a:ln>
        </p:spPr>
      </p:pic>
      <p:pic>
        <p:nvPicPr>
          <p:cNvPr descr="image.png" id="111" name="Google Shape;111;p15"/>
          <p:cNvPicPr preferRelativeResize="0"/>
          <p:nvPr/>
        </p:nvPicPr>
        <p:blipFill rotWithShape="1">
          <a:blip r:embed="rId5">
            <a:alphaModFix/>
          </a:blip>
          <a:srcRect b="0" l="0" r="0" t="0"/>
          <a:stretch/>
        </p:blipFill>
        <p:spPr>
          <a:xfrm>
            <a:off x="6334125" y="1504950"/>
            <a:ext cx="5286375" cy="4781550"/>
          </a:xfrm>
          <a:prstGeom prst="rect">
            <a:avLst/>
          </a:prstGeom>
          <a:noFill/>
          <a:ln>
            <a:noFill/>
          </a:ln>
        </p:spPr>
      </p:pic>
      <p:sp>
        <p:nvSpPr>
          <p:cNvPr id="112" name="Google Shape;112;p15"/>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8FAFC"/>
                </a:solidFill>
                <a:latin typeface="Urbanist Medium"/>
                <a:ea typeface="Urbanist Medium"/>
                <a:cs typeface="Urbanist Medium"/>
                <a:sym typeface="Urbanist Medium"/>
              </a:rPr>
              <a:t>Normalized Architecture</a:t>
            </a:r>
            <a:endParaRPr/>
          </a:p>
        </p:txBody>
      </p:sp>
      <p:sp>
        <p:nvSpPr>
          <p:cNvPr id="113" name="Google Shape;113;p15"/>
          <p:cNvSpPr txBox="1"/>
          <p:nvPr/>
        </p:nvSpPr>
        <p:spPr>
          <a:xfrm>
            <a:off x="1057275" y="1990725"/>
            <a:ext cx="4530566"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0B981"/>
                </a:solidFill>
                <a:latin typeface="Urbanist Medium"/>
                <a:ea typeface="Urbanist Medium"/>
                <a:cs typeface="Urbanist Medium"/>
                <a:sym typeface="Urbanist Medium"/>
              </a:rPr>
              <a:t>Core Entities (USER &amp; STORY)</a:t>
            </a:r>
            <a:endParaRPr/>
          </a:p>
        </p:txBody>
      </p:sp>
      <p:sp>
        <p:nvSpPr>
          <p:cNvPr id="114" name="Google Shape;114;p15"/>
          <p:cNvSpPr txBox="1"/>
          <p:nvPr/>
        </p:nvSpPr>
        <p:spPr>
          <a:xfrm>
            <a:off x="1057275" y="2590800"/>
            <a:ext cx="4314900" cy="2692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The schema perfectly isolates user accounts and their associated stories into distinct tables. This 3rd Normal Form separation ensures that user metadata</a:t>
            </a:r>
            <a:r>
              <a:rPr lang="en-US" sz="1650">
                <a:solidFill>
                  <a:srgbClr val="CBD5E1"/>
                </a:solidFill>
                <a:latin typeface="Urbanist"/>
                <a:ea typeface="Urbanist"/>
                <a:cs typeface="Urbanist"/>
                <a:sym typeface="Urbanist"/>
              </a:rPr>
              <a:t>, </a:t>
            </a:r>
            <a:r>
              <a:rPr b="0" i="0" lang="en-US" sz="1650" u="none" cap="none" strike="noStrike">
                <a:solidFill>
                  <a:srgbClr val="CBD5E1"/>
                </a:solidFill>
                <a:latin typeface="Urbanist"/>
                <a:ea typeface="Urbanist"/>
                <a:cs typeface="Urbanist"/>
                <a:sym typeface="Urbanist"/>
              </a:rPr>
              <a:t>like average Flesch Readability scores</a:t>
            </a:r>
            <a:r>
              <a:rPr lang="en-US" sz="1650">
                <a:solidFill>
                  <a:srgbClr val="CBD5E1"/>
                </a:solidFill>
                <a:latin typeface="Urbanist"/>
                <a:ea typeface="Urbanist"/>
                <a:cs typeface="Urbanist"/>
                <a:sym typeface="Urbanist"/>
              </a:rPr>
              <a:t>, </a:t>
            </a:r>
            <a:r>
              <a:rPr b="0" i="0" lang="en-US" sz="1650" u="none" cap="none" strike="noStrike">
                <a:solidFill>
                  <a:srgbClr val="CBD5E1"/>
                </a:solidFill>
                <a:latin typeface="Urbanist"/>
                <a:ea typeface="Urbanist"/>
                <a:cs typeface="Urbanist"/>
                <a:sym typeface="Urbanist"/>
              </a:rPr>
              <a:t>doesn't redundantly clutter the core narrative data, maintaining a clean and scalable architecture.</a:t>
            </a:r>
            <a:endParaRPr/>
          </a:p>
        </p:txBody>
      </p:sp>
      <p:sp>
        <p:nvSpPr>
          <p:cNvPr id="115" name="Google Shape;115;p15"/>
          <p:cNvSpPr txBox="1"/>
          <p:nvPr/>
        </p:nvSpPr>
        <p:spPr>
          <a:xfrm>
            <a:off x="6819900" y="1990725"/>
            <a:ext cx="4530566"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0B981"/>
                </a:solidFill>
                <a:latin typeface="Urbanist Medium"/>
                <a:ea typeface="Urbanist Medium"/>
                <a:cs typeface="Urbanist Medium"/>
                <a:sym typeface="Urbanist Medium"/>
              </a:rPr>
              <a:t>Game Mechanics (WORDCHAIN)</a:t>
            </a:r>
            <a:endParaRPr/>
          </a:p>
        </p:txBody>
      </p:sp>
      <p:sp>
        <p:nvSpPr>
          <p:cNvPr id="116" name="Google Shape;116;p15"/>
          <p:cNvSpPr txBox="1"/>
          <p:nvPr/>
        </p:nvSpPr>
        <p:spPr>
          <a:xfrm>
            <a:off x="6819900" y="2952750"/>
            <a:ext cx="4314825" cy="2346126"/>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The core game logic is normalized into a robust many-to-many relationship structure. Word chains are explicitly linked to parent stories, while the CHAINWORD table acts as the associative entity connecting individual chains to the global WORDPOOL, tracking exact sequence orders.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0" name="Shape 120"/>
        <p:cNvGrpSpPr/>
        <p:nvPr/>
      </p:nvGrpSpPr>
      <p:grpSpPr>
        <a:xfrm>
          <a:off x="0" y="0"/>
          <a:ext cx="0" cy="0"/>
          <a:chOff x="0" y="0"/>
          <a:chExt cx="0" cy="0"/>
        </a:xfrm>
      </p:grpSpPr>
      <p:pic>
        <p:nvPicPr>
          <p:cNvPr descr="image.png" id="121" name="Google Shape;121;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2" name="Google Shape;122;p16"/>
          <p:cNvPicPr preferRelativeResize="0"/>
          <p:nvPr/>
        </p:nvPicPr>
        <p:blipFill rotWithShape="1">
          <a:blip r:embed="rId4">
            <a:alphaModFix/>
          </a:blip>
          <a:srcRect b="0" l="0" r="0" t="0"/>
          <a:stretch/>
        </p:blipFill>
        <p:spPr>
          <a:xfrm>
            <a:off x="571500" y="931068"/>
            <a:ext cx="5286375" cy="5929312"/>
          </a:xfrm>
          <a:prstGeom prst="rect">
            <a:avLst/>
          </a:prstGeom>
          <a:noFill/>
          <a:ln>
            <a:noFill/>
          </a:ln>
        </p:spPr>
      </p:pic>
      <p:pic>
        <p:nvPicPr>
          <p:cNvPr descr="image.png" id="123" name="Google Shape;123;p16"/>
          <p:cNvPicPr preferRelativeResize="0"/>
          <p:nvPr/>
        </p:nvPicPr>
        <p:blipFill rotWithShape="1">
          <a:blip r:embed="rId5">
            <a:alphaModFix/>
          </a:blip>
          <a:srcRect b="0" l="0" r="0" t="0"/>
          <a:stretch/>
        </p:blipFill>
        <p:spPr>
          <a:xfrm>
            <a:off x="6334125" y="931068"/>
            <a:ext cx="5286375" cy="5929312"/>
          </a:xfrm>
          <a:prstGeom prst="rect">
            <a:avLst/>
          </a:prstGeom>
          <a:noFill/>
          <a:ln>
            <a:noFill/>
          </a:ln>
        </p:spPr>
      </p:pic>
      <p:sp>
        <p:nvSpPr>
          <p:cNvPr id="124" name="Google Shape;124;p16"/>
          <p:cNvSpPr txBox="1"/>
          <p:nvPr/>
        </p:nvSpPr>
        <p:spPr>
          <a:xfrm>
            <a:off x="571500" y="-2381"/>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8FAFC"/>
                </a:solidFill>
                <a:latin typeface="Urbanist Medium"/>
                <a:ea typeface="Urbanist Medium"/>
                <a:cs typeface="Urbanist Medium"/>
                <a:sym typeface="Urbanist Medium"/>
              </a:rPr>
              <a:t>Schema Definition (DDL)</a:t>
            </a:r>
            <a:endParaRPr/>
          </a:p>
        </p:txBody>
      </p:sp>
      <p:sp>
        <p:nvSpPr>
          <p:cNvPr id="125" name="Google Shape;125;p16"/>
          <p:cNvSpPr txBox="1"/>
          <p:nvPr/>
        </p:nvSpPr>
        <p:spPr>
          <a:xfrm>
            <a:off x="1057275" y="1416843"/>
            <a:ext cx="4530566"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0B981"/>
                </a:solidFill>
                <a:latin typeface="Urbanist Medium"/>
                <a:ea typeface="Urbanist Medium"/>
                <a:cs typeface="Urbanist Medium"/>
                <a:sym typeface="Urbanist Medium"/>
              </a:rPr>
              <a:t>USER &amp; STORY Tables</a:t>
            </a:r>
            <a:endParaRPr/>
          </a:p>
        </p:txBody>
      </p:sp>
      <p:sp>
        <p:nvSpPr>
          <p:cNvPr id="126" name="Google Shape;126;p16"/>
          <p:cNvSpPr txBox="1"/>
          <p:nvPr/>
        </p:nvSpPr>
        <p:spPr>
          <a:xfrm>
            <a:off x="6819900" y="1416843"/>
            <a:ext cx="4530566"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0B981"/>
                </a:solidFill>
                <a:latin typeface="Urbanist Medium"/>
                <a:ea typeface="Urbanist Medium"/>
                <a:cs typeface="Urbanist Medium"/>
                <a:sym typeface="Urbanist Medium"/>
              </a:rPr>
              <a:t>Game Mechanic Tables</a:t>
            </a:r>
            <a:endParaRPr/>
          </a:p>
        </p:txBody>
      </p:sp>
      <p:sp>
        <p:nvSpPr>
          <p:cNvPr id="127" name="Google Shape;127;p16"/>
          <p:cNvSpPr txBox="1"/>
          <p:nvPr/>
        </p:nvSpPr>
        <p:spPr>
          <a:xfrm>
            <a:off x="1285875" y="2416968"/>
            <a:ext cx="1143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CREATE TABLE</a:t>
            </a:r>
            <a:endParaRPr/>
          </a:p>
        </p:txBody>
      </p:sp>
      <p:sp>
        <p:nvSpPr>
          <p:cNvPr id="128" name="Google Shape;128;p16"/>
          <p:cNvSpPr txBox="1"/>
          <p:nvPr/>
        </p:nvSpPr>
        <p:spPr>
          <a:xfrm>
            <a:off x="2428875" y="2631281"/>
            <a:ext cx="1809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INTEGER PRIMARY KEY</a:t>
            </a:r>
            <a:endParaRPr/>
          </a:p>
        </p:txBody>
      </p:sp>
      <p:sp>
        <p:nvSpPr>
          <p:cNvPr id="129" name="Google Shape;129;p16"/>
          <p:cNvSpPr txBox="1"/>
          <p:nvPr/>
        </p:nvSpPr>
        <p:spPr>
          <a:xfrm>
            <a:off x="3000375" y="2845593"/>
            <a:ext cx="762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NOT NULL</a:t>
            </a:r>
            <a:endParaRPr/>
          </a:p>
        </p:txBody>
      </p:sp>
      <p:sp>
        <p:nvSpPr>
          <p:cNvPr id="130" name="Google Shape;130;p16"/>
          <p:cNvSpPr txBox="1"/>
          <p:nvPr/>
        </p:nvSpPr>
        <p:spPr>
          <a:xfrm>
            <a:off x="1285875" y="4131468"/>
            <a:ext cx="1143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CREATE TABLE</a:t>
            </a:r>
            <a:endParaRPr/>
          </a:p>
        </p:txBody>
      </p:sp>
      <p:sp>
        <p:nvSpPr>
          <p:cNvPr id="131" name="Google Shape;131;p16"/>
          <p:cNvSpPr txBox="1"/>
          <p:nvPr/>
        </p:nvSpPr>
        <p:spPr>
          <a:xfrm>
            <a:off x="2524125" y="4345781"/>
            <a:ext cx="1809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INTEGER PRIMARY KEY</a:t>
            </a:r>
            <a:endParaRPr/>
          </a:p>
        </p:txBody>
      </p:sp>
      <p:sp>
        <p:nvSpPr>
          <p:cNvPr id="132" name="Google Shape;132;p16"/>
          <p:cNvSpPr txBox="1"/>
          <p:nvPr/>
        </p:nvSpPr>
        <p:spPr>
          <a:xfrm>
            <a:off x="2428875" y="4560093"/>
            <a:ext cx="1524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INTEGER NOT NULL</a:t>
            </a:r>
            <a:endParaRPr/>
          </a:p>
        </p:txBody>
      </p:sp>
      <p:sp>
        <p:nvSpPr>
          <p:cNvPr id="133" name="Google Shape;133;p16"/>
          <p:cNvSpPr txBox="1"/>
          <p:nvPr/>
        </p:nvSpPr>
        <p:spPr>
          <a:xfrm>
            <a:off x="1666875" y="5203031"/>
            <a:ext cx="1047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FOREIGN KEY</a:t>
            </a:r>
            <a:endParaRPr/>
          </a:p>
        </p:txBody>
      </p:sp>
      <p:sp>
        <p:nvSpPr>
          <p:cNvPr id="134" name="Google Shape;134;p16"/>
          <p:cNvSpPr txBox="1"/>
          <p:nvPr/>
        </p:nvSpPr>
        <p:spPr>
          <a:xfrm>
            <a:off x="1857375" y="5417343"/>
            <a:ext cx="952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REFERENCES</a:t>
            </a:r>
            <a:endParaRPr/>
          </a:p>
        </p:txBody>
      </p:sp>
      <p:sp>
        <p:nvSpPr>
          <p:cNvPr id="135" name="Google Shape;135;p16"/>
          <p:cNvSpPr txBox="1"/>
          <p:nvPr/>
        </p:nvSpPr>
        <p:spPr>
          <a:xfrm>
            <a:off x="1857375" y="5631656"/>
            <a:ext cx="1619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ON DELETE CASCADE</a:t>
            </a:r>
            <a:endParaRPr/>
          </a:p>
        </p:txBody>
      </p:sp>
      <p:sp>
        <p:nvSpPr>
          <p:cNvPr id="136" name="Google Shape;136;p16"/>
          <p:cNvSpPr txBox="1"/>
          <p:nvPr/>
        </p:nvSpPr>
        <p:spPr>
          <a:xfrm>
            <a:off x="7048500" y="2416968"/>
            <a:ext cx="1143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CREATE TABLE</a:t>
            </a:r>
            <a:endParaRPr/>
          </a:p>
        </p:txBody>
      </p:sp>
      <p:sp>
        <p:nvSpPr>
          <p:cNvPr id="137" name="Google Shape;137;p16"/>
          <p:cNvSpPr txBox="1"/>
          <p:nvPr/>
        </p:nvSpPr>
        <p:spPr>
          <a:xfrm>
            <a:off x="8286750" y="2631281"/>
            <a:ext cx="1809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INTEGER PRIMARY KEY</a:t>
            </a:r>
            <a:endParaRPr/>
          </a:p>
        </p:txBody>
      </p:sp>
      <p:sp>
        <p:nvSpPr>
          <p:cNvPr id="138" name="Google Shape;138;p16"/>
          <p:cNvSpPr txBox="1"/>
          <p:nvPr/>
        </p:nvSpPr>
        <p:spPr>
          <a:xfrm>
            <a:off x="8286750" y="2845593"/>
            <a:ext cx="1524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INTEGER NOT NULL</a:t>
            </a:r>
            <a:endParaRPr/>
          </a:p>
        </p:txBody>
      </p:sp>
      <p:sp>
        <p:nvSpPr>
          <p:cNvPr id="139" name="Google Shape;139;p16"/>
          <p:cNvSpPr txBox="1"/>
          <p:nvPr/>
        </p:nvSpPr>
        <p:spPr>
          <a:xfrm>
            <a:off x="7429500" y="3274218"/>
            <a:ext cx="1047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FOREIGN KEY</a:t>
            </a:r>
            <a:endParaRPr/>
          </a:p>
        </p:txBody>
      </p:sp>
      <p:sp>
        <p:nvSpPr>
          <p:cNvPr id="140" name="Google Shape;140;p16"/>
          <p:cNvSpPr txBox="1"/>
          <p:nvPr/>
        </p:nvSpPr>
        <p:spPr>
          <a:xfrm>
            <a:off x="7620000" y="3488531"/>
            <a:ext cx="952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REFERENCES</a:t>
            </a:r>
            <a:endParaRPr/>
          </a:p>
        </p:txBody>
      </p:sp>
      <p:sp>
        <p:nvSpPr>
          <p:cNvPr id="141" name="Google Shape;141;p16"/>
          <p:cNvSpPr txBox="1"/>
          <p:nvPr/>
        </p:nvSpPr>
        <p:spPr>
          <a:xfrm>
            <a:off x="7620000" y="3702843"/>
            <a:ext cx="1619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ON DELETE CASCADE</a:t>
            </a:r>
            <a:endParaRPr/>
          </a:p>
        </p:txBody>
      </p:sp>
      <p:sp>
        <p:nvSpPr>
          <p:cNvPr id="142" name="Google Shape;142;p16"/>
          <p:cNvSpPr txBox="1"/>
          <p:nvPr/>
        </p:nvSpPr>
        <p:spPr>
          <a:xfrm>
            <a:off x="7048500" y="4345781"/>
            <a:ext cx="1143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CREATE TABLE</a:t>
            </a:r>
            <a:endParaRPr/>
          </a:p>
        </p:txBody>
      </p:sp>
      <p:sp>
        <p:nvSpPr>
          <p:cNvPr id="143" name="Google Shape;143;p16"/>
          <p:cNvSpPr txBox="1"/>
          <p:nvPr/>
        </p:nvSpPr>
        <p:spPr>
          <a:xfrm>
            <a:off x="8286750" y="4560093"/>
            <a:ext cx="1524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INTEGER NOT NULL</a:t>
            </a:r>
            <a:endParaRPr/>
          </a:p>
        </p:txBody>
      </p:sp>
      <p:sp>
        <p:nvSpPr>
          <p:cNvPr id="144" name="Google Shape;144;p16"/>
          <p:cNvSpPr txBox="1"/>
          <p:nvPr/>
        </p:nvSpPr>
        <p:spPr>
          <a:xfrm>
            <a:off x="8858250" y="4774406"/>
            <a:ext cx="1524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INTEGER NOT NULL</a:t>
            </a:r>
            <a:endParaRPr/>
          </a:p>
        </p:txBody>
      </p:sp>
      <p:sp>
        <p:nvSpPr>
          <p:cNvPr id="145" name="Google Shape;145;p16"/>
          <p:cNvSpPr txBox="1"/>
          <p:nvPr/>
        </p:nvSpPr>
        <p:spPr>
          <a:xfrm>
            <a:off x="8191500" y="4988718"/>
            <a:ext cx="1524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INTEGER NOT NULL</a:t>
            </a:r>
            <a:endParaRPr/>
          </a:p>
        </p:txBody>
      </p:sp>
      <p:sp>
        <p:nvSpPr>
          <p:cNvPr id="146" name="Google Shape;146;p16"/>
          <p:cNvSpPr txBox="1"/>
          <p:nvPr/>
        </p:nvSpPr>
        <p:spPr>
          <a:xfrm>
            <a:off x="7429500" y="5203031"/>
            <a:ext cx="1047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PRIMARY KEY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0" name="Shape 150"/>
        <p:cNvGrpSpPr/>
        <p:nvPr/>
      </p:nvGrpSpPr>
      <p:grpSpPr>
        <a:xfrm>
          <a:off x="0" y="0"/>
          <a:ext cx="0" cy="0"/>
          <a:chOff x="0" y="0"/>
          <a:chExt cx="0" cy="0"/>
        </a:xfrm>
      </p:grpSpPr>
      <p:pic>
        <p:nvPicPr>
          <p:cNvPr descr="image.png" id="151" name="Google Shape;151;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2" name="Google Shape;152;p17"/>
          <p:cNvPicPr preferRelativeResize="0"/>
          <p:nvPr/>
        </p:nvPicPr>
        <p:blipFill rotWithShape="1">
          <a:blip r:embed="rId4">
            <a:alphaModFix/>
          </a:blip>
          <a:srcRect b="0" l="0" r="0" t="0"/>
          <a:stretch/>
        </p:blipFill>
        <p:spPr>
          <a:xfrm>
            <a:off x="571500" y="1038225"/>
            <a:ext cx="5286375" cy="5715000"/>
          </a:xfrm>
          <a:prstGeom prst="rect">
            <a:avLst/>
          </a:prstGeom>
          <a:noFill/>
          <a:ln>
            <a:noFill/>
          </a:ln>
        </p:spPr>
      </p:pic>
      <p:pic>
        <p:nvPicPr>
          <p:cNvPr descr="image.png" id="153" name="Google Shape;153;p17"/>
          <p:cNvPicPr preferRelativeResize="0"/>
          <p:nvPr/>
        </p:nvPicPr>
        <p:blipFill rotWithShape="1">
          <a:blip r:embed="rId5">
            <a:alphaModFix/>
          </a:blip>
          <a:srcRect b="0" l="0" r="0" t="0"/>
          <a:stretch/>
        </p:blipFill>
        <p:spPr>
          <a:xfrm>
            <a:off x="6334125" y="1038225"/>
            <a:ext cx="5286375" cy="5715000"/>
          </a:xfrm>
          <a:prstGeom prst="rect">
            <a:avLst/>
          </a:prstGeom>
          <a:noFill/>
          <a:ln>
            <a:noFill/>
          </a:ln>
        </p:spPr>
      </p:pic>
      <p:sp>
        <p:nvSpPr>
          <p:cNvPr id="154" name="Google Shape;154;p17"/>
          <p:cNvSpPr txBox="1"/>
          <p:nvPr/>
        </p:nvSpPr>
        <p:spPr>
          <a:xfrm>
            <a:off x="571500" y="104775"/>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8FAFC"/>
                </a:solidFill>
                <a:latin typeface="Urbanist Medium"/>
                <a:ea typeface="Urbanist Medium"/>
                <a:cs typeface="Urbanist Medium"/>
                <a:sym typeface="Urbanist Medium"/>
              </a:rPr>
              <a:t>Data Manipulation (CREATE/READ)</a:t>
            </a:r>
            <a:endParaRPr/>
          </a:p>
        </p:txBody>
      </p:sp>
      <p:sp>
        <p:nvSpPr>
          <p:cNvPr id="155" name="Google Shape;155;p17"/>
          <p:cNvSpPr txBox="1"/>
          <p:nvPr/>
        </p:nvSpPr>
        <p:spPr>
          <a:xfrm>
            <a:off x="1057275" y="1524000"/>
            <a:ext cx="4530566"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0B981"/>
                </a:solidFill>
                <a:latin typeface="Urbanist Medium"/>
                <a:ea typeface="Urbanist Medium"/>
                <a:cs typeface="Urbanist Medium"/>
                <a:sym typeface="Urbanist Medium"/>
              </a:rPr>
              <a:t>INSERT Transaction</a:t>
            </a:r>
            <a:endParaRPr/>
          </a:p>
        </p:txBody>
      </p:sp>
      <p:sp>
        <p:nvSpPr>
          <p:cNvPr id="156" name="Google Shape;156;p17"/>
          <p:cNvSpPr txBox="1"/>
          <p:nvPr/>
        </p:nvSpPr>
        <p:spPr>
          <a:xfrm>
            <a:off x="6819900" y="1524000"/>
            <a:ext cx="4530566"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0B981"/>
                </a:solidFill>
                <a:latin typeface="Urbanist Medium"/>
                <a:ea typeface="Urbanist Medium"/>
                <a:cs typeface="Urbanist Medium"/>
                <a:sym typeface="Urbanist Medium"/>
              </a:rPr>
              <a:t>SELECT Statement</a:t>
            </a:r>
            <a:endParaRPr/>
          </a:p>
        </p:txBody>
      </p:sp>
      <p:sp>
        <p:nvSpPr>
          <p:cNvPr id="157" name="Google Shape;157;p17"/>
          <p:cNvSpPr txBox="1"/>
          <p:nvPr/>
        </p:nvSpPr>
        <p:spPr>
          <a:xfrm>
            <a:off x="1285875" y="2524125"/>
            <a:ext cx="1619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BEGIN TRANSACTION</a:t>
            </a:r>
            <a:endParaRPr/>
          </a:p>
        </p:txBody>
      </p:sp>
      <p:sp>
        <p:nvSpPr>
          <p:cNvPr id="158" name="Google Shape;158;p17"/>
          <p:cNvSpPr txBox="1"/>
          <p:nvPr/>
        </p:nvSpPr>
        <p:spPr>
          <a:xfrm>
            <a:off x="1285875" y="2738437"/>
            <a:ext cx="2190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1" lang="en-US" sz="1125" u="none" cap="none" strike="noStrike">
                <a:solidFill>
                  <a:srgbClr val="64748B"/>
                </a:solidFill>
                <a:latin typeface="Azeret Mono"/>
                <a:ea typeface="Azeret Mono"/>
                <a:cs typeface="Azeret Mono"/>
                <a:sym typeface="Azeret Mono"/>
              </a:rPr>
              <a:t>-- 1. Create base story</a:t>
            </a:r>
            <a:endParaRPr/>
          </a:p>
        </p:txBody>
      </p:sp>
      <p:sp>
        <p:nvSpPr>
          <p:cNvPr id="159" name="Google Shape;159;p17"/>
          <p:cNvSpPr txBox="1"/>
          <p:nvPr/>
        </p:nvSpPr>
        <p:spPr>
          <a:xfrm>
            <a:off x="1285875" y="2952750"/>
            <a:ext cx="1047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INSERT INTO</a:t>
            </a:r>
            <a:endParaRPr/>
          </a:p>
        </p:txBody>
      </p:sp>
      <p:sp>
        <p:nvSpPr>
          <p:cNvPr id="160" name="Google Shape;160;p17"/>
          <p:cNvSpPr txBox="1"/>
          <p:nvPr/>
        </p:nvSpPr>
        <p:spPr>
          <a:xfrm>
            <a:off x="1285875" y="3167062"/>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VALUES</a:t>
            </a:r>
            <a:endParaRPr/>
          </a:p>
        </p:txBody>
      </p:sp>
      <p:sp>
        <p:nvSpPr>
          <p:cNvPr id="161" name="Google Shape;161;p17"/>
          <p:cNvSpPr txBox="1"/>
          <p:nvPr/>
        </p:nvSpPr>
        <p:spPr>
          <a:xfrm>
            <a:off x="2333625" y="3167062"/>
            <a:ext cx="2000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FDE047"/>
                </a:solidFill>
                <a:latin typeface="Azeret Mono"/>
                <a:ea typeface="Azeret Mono"/>
                <a:cs typeface="Azeret Mono"/>
                <a:sym typeface="Azeret Mono"/>
              </a:rPr>
              <a:t>'The Silent Terminal'</a:t>
            </a:r>
            <a:endParaRPr/>
          </a:p>
        </p:txBody>
      </p:sp>
      <p:sp>
        <p:nvSpPr>
          <p:cNvPr id="162" name="Google Shape;162;p17"/>
          <p:cNvSpPr txBox="1"/>
          <p:nvPr/>
        </p:nvSpPr>
        <p:spPr>
          <a:xfrm>
            <a:off x="1285875" y="3595687"/>
            <a:ext cx="2667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1" lang="en-US" sz="1125" u="none" cap="none" strike="noStrike">
                <a:solidFill>
                  <a:srgbClr val="64748B"/>
                </a:solidFill>
                <a:latin typeface="Azeret Mono"/>
                <a:ea typeface="Azeret Mono"/>
                <a:cs typeface="Azeret Mono"/>
                <a:sym typeface="Azeret Mono"/>
              </a:rPr>
              <a:t>-- 2. Create word chain link</a:t>
            </a:r>
            <a:endParaRPr/>
          </a:p>
        </p:txBody>
      </p:sp>
      <p:sp>
        <p:nvSpPr>
          <p:cNvPr id="163" name="Google Shape;163;p17"/>
          <p:cNvSpPr txBox="1"/>
          <p:nvPr/>
        </p:nvSpPr>
        <p:spPr>
          <a:xfrm>
            <a:off x="1285875" y="3810000"/>
            <a:ext cx="1047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INSERT INTO</a:t>
            </a:r>
            <a:endParaRPr/>
          </a:p>
        </p:txBody>
      </p:sp>
      <p:sp>
        <p:nvSpPr>
          <p:cNvPr id="164" name="Google Shape;164;p17"/>
          <p:cNvSpPr txBox="1"/>
          <p:nvPr/>
        </p:nvSpPr>
        <p:spPr>
          <a:xfrm>
            <a:off x="1285875" y="4024312"/>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VALUES</a:t>
            </a:r>
            <a:endParaRPr/>
          </a:p>
        </p:txBody>
      </p:sp>
      <p:sp>
        <p:nvSpPr>
          <p:cNvPr id="165" name="Google Shape;165;p17"/>
          <p:cNvSpPr txBox="1"/>
          <p:nvPr/>
        </p:nvSpPr>
        <p:spPr>
          <a:xfrm>
            <a:off x="1285875" y="4452937"/>
            <a:ext cx="2857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1" lang="en-US" sz="1125" u="none" cap="none" strike="noStrike">
                <a:solidFill>
                  <a:srgbClr val="64748B"/>
                </a:solidFill>
                <a:latin typeface="Azeret Mono"/>
                <a:ea typeface="Azeret Mono"/>
                <a:cs typeface="Azeret Mono"/>
                <a:sym typeface="Azeret Mono"/>
              </a:rPr>
              <a:t>-- 3. Insert linked chainwords</a:t>
            </a:r>
            <a:endParaRPr/>
          </a:p>
        </p:txBody>
      </p:sp>
      <p:sp>
        <p:nvSpPr>
          <p:cNvPr id="166" name="Google Shape;166;p17"/>
          <p:cNvSpPr txBox="1"/>
          <p:nvPr/>
        </p:nvSpPr>
        <p:spPr>
          <a:xfrm>
            <a:off x="1285875" y="4667250"/>
            <a:ext cx="1047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INSERT INTO</a:t>
            </a:r>
            <a:endParaRPr/>
          </a:p>
        </p:txBody>
      </p:sp>
      <p:sp>
        <p:nvSpPr>
          <p:cNvPr id="167" name="Google Shape;167;p17"/>
          <p:cNvSpPr txBox="1"/>
          <p:nvPr/>
        </p:nvSpPr>
        <p:spPr>
          <a:xfrm>
            <a:off x="1476375" y="5095875"/>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VALUES</a:t>
            </a:r>
            <a:endParaRPr/>
          </a:p>
        </p:txBody>
      </p:sp>
      <p:sp>
        <p:nvSpPr>
          <p:cNvPr id="168" name="Google Shape;168;p17"/>
          <p:cNvSpPr txBox="1"/>
          <p:nvPr/>
        </p:nvSpPr>
        <p:spPr>
          <a:xfrm>
            <a:off x="1285875" y="5738812"/>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COMMIT</a:t>
            </a:r>
            <a:endParaRPr/>
          </a:p>
        </p:txBody>
      </p:sp>
      <p:sp>
        <p:nvSpPr>
          <p:cNvPr id="169" name="Google Shape;169;p17"/>
          <p:cNvSpPr txBox="1"/>
          <p:nvPr/>
        </p:nvSpPr>
        <p:spPr>
          <a:xfrm>
            <a:off x="7048500" y="2524125"/>
            <a:ext cx="3333750" cy="59055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1" lang="en-US" sz="1125" u="none" cap="none" strike="noStrike">
                <a:solidFill>
                  <a:srgbClr val="64748B"/>
                </a:solidFill>
                <a:latin typeface="Azeret Mono"/>
                <a:ea typeface="Azeret Mono"/>
                <a:cs typeface="Azeret Mono"/>
                <a:sym typeface="Azeret Mono"/>
              </a:rPr>
              <a:t>-- Retrieves the first name, story -- title, and flesch score for -- stories scoring above 60.</a:t>
            </a:r>
            <a:endParaRPr/>
          </a:p>
        </p:txBody>
      </p:sp>
      <p:sp>
        <p:nvSpPr>
          <p:cNvPr id="170" name="Google Shape;170;p17"/>
          <p:cNvSpPr txBox="1"/>
          <p:nvPr/>
        </p:nvSpPr>
        <p:spPr>
          <a:xfrm>
            <a:off x="7048500" y="3381375"/>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SELECT</a:t>
            </a:r>
            <a:endParaRPr/>
          </a:p>
        </p:txBody>
      </p:sp>
      <p:sp>
        <p:nvSpPr>
          <p:cNvPr id="171" name="Google Shape;171;p17"/>
          <p:cNvSpPr txBox="1"/>
          <p:nvPr/>
        </p:nvSpPr>
        <p:spPr>
          <a:xfrm>
            <a:off x="7048500" y="4238625"/>
            <a:ext cx="381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FROM</a:t>
            </a:r>
            <a:endParaRPr/>
          </a:p>
        </p:txBody>
      </p:sp>
      <p:sp>
        <p:nvSpPr>
          <p:cNvPr id="172" name="Google Shape;172;p17"/>
          <p:cNvSpPr txBox="1"/>
          <p:nvPr/>
        </p:nvSpPr>
        <p:spPr>
          <a:xfrm>
            <a:off x="7048500" y="4452937"/>
            <a:ext cx="381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JOIN</a:t>
            </a:r>
            <a:endParaRPr/>
          </a:p>
        </p:txBody>
      </p:sp>
      <p:sp>
        <p:nvSpPr>
          <p:cNvPr id="173" name="Google Shape;173;p17"/>
          <p:cNvSpPr txBox="1"/>
          <p:nvPr/>
        </p:nvSpPr>
        <p:spPr>
          <a:xfrm>
            <a:off x="7239000" y="4667250"/>
            <a:ext cx="190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ON</a:t>
            </a:r>
            <a:endParaRPr/>
          </a:p>
        </p:txBody>
      </p:sp>
      <p:sp>
        <p:nvSpPr>
          <p:cNvPr id="174" name="Google Shape;174;p17"/>
          <p:cNvSpPr txBox="1"/>
          <p:nvPr/>
        </p:nvSpPr>
        <p:spPr>
          <a:xfrm>
            <a:off x="7048500" y="4881562"/>
            <a:ext cx="476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WHERE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8" name="Shape 178"/>
        <p:cNvGrpSpPr/>
        <p:nvPr/>
      </p:nvGrpSpPr>
      <p:grpSpPr>
        <a:xfrm>
          <a:off x="0" y="0"/>
          <a:ext cx="0" cy="0"/>
          <a:chOff x="0" y="0"/>
          <a:chExt cx="0" cy="0"/>
        </a:xfrm>
      </p:grpSpPr>
      <p:pic>
        <p:nvPicPr>
          <p:cNvPr descr="image.png" id="179" name="Google Shape;179;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0" name="Google Shape;180;p18"/>
          <p:cNvPicPr preferRelativeResize="0"/>
          <p:nvPr/>
        </p:nvPicPr>
        <p:blipFill rotWithShape="1">
          <a:blip r:embed="rId4">
            <a:alphaModFix/>
          </a:blip>
          <a:srcRect b="0" l="0" r="0" t="0"/>
          <a:stretch/>
        </p:blipFill>
        <p:spPr>
          <a:xfrm>
            <a:off x="571500" y="1145381"/>
            <a:ext cx="5286375" cy="5500687"/>
          </a:xfrm>
          <a:prstGeom prst="rect">
            <a:avLst/>
          </a:prstGeom>
          <a:noFill/>
          <a:ln>
            <a:noFill/>
          </a:ln>
        </p:spPr>
      </p:pic>
      <p:pic>
        <p:nvPicPr>
          <p:cNvPr descr="image.png" id="181" name="Google Shape;181;p18"/>
          <p:cNvPicPr preferRelativeResize="0"/>
          <p:nvPr/>
        </p:nvPicPr>
        <p:blipFill rotWithShape="1">
          <a:blip r:embed="rId5">
            <a:alphaModFix/>
          </a:blip>
          <a:srcRect b="0" l="0" r="0" t="0"/>
          <a:stretch/>
        </p:blipFill>
        <p:spPr>
          <a:xfrm>
            <a:off x="6334125" y="1145381"/>
            <a:ext cx="5286375" cy="5500687"/>
          </a:xfrm>
          <a:prstGeom prst="rect">
            <a:avLst/>
          </a:prstGeom>
          <a:noFill/>
          <a:ln>
            <a:noFill/>
          </a:ln>
        </p:spPr>
      </p:pic>
      <p:sp>
        <p:nvSpPr>
          <p:cNvPr id="182" name="Google Shape;182;p18"/>
          <p:cNvSpPr txBox="1"/>
          <p:nvPr/>
        </p:nvSpPr>
        <p:spPr>
          <a:xfrm>
            <a:off x="571500" y="211931"/>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8FAFC"/>
                </a:solidFill>
                <a:latin typeface="Urbanist Medium"/>
                <a:ea typeface="Urbanist Medium"/>
                <a:cs typeface="Urbanist Medium"/>
                <a:sym typeface="Urbanist Medium"/>
              </a:rPr>
              <a:t>Data Manipulation (UPDATE/DELETE)</a:t>
            </a:r>
            <a:endParaRPr/>
          </a:p>
        </p:txBody>
      </p:sp>
      <p:sp>
        <p:nvSpPr>
          <p:cNvPr id="183" name="Google Shape;183;p18"/>
          <p:cNvSpPr txBox="1"/>
          <p:nvPr/>
        </p:nvSpPr>
        <p:spPr>
          <a:xfrm>
            <a:off x="1057275" y="1631156"/>
            <a:ext cx="4530566"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0B981"/>
                </a:solidFill>
                <a:latin typeface="Urbanist Medium"/>
                <a:ea typeface="Urbanist Medium"/>
                <a:cs typeface="Urbanist Medium"/>
                <a:sym typeface="Urbanist Medium"/>
              </a:rPr>
              <a:t>UPDATE Transaction</a:t>
            </a:r>
            <a:endParaRPr/>
          </a:p>
        </p:txBody>
      </p:sp>
      <p:sp>
        <p:nvSpPr>
          <p:cNvPr id="184" name="Google Shape;184;p18"/>
          <p:cNvSpPr txBox="1"/>
          <p:nvPr/>
        </p:nvSpPr>
        <p:spPr>
          <a:xfrm>
            <a:off x="6819900" y="1631156"/>
            <a:ext cx="4530566"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0B981"/>
                </a:solidFill>
                <a:latin typeface="Urbanist Medium"/>
                <a:ea typeface="Urbanist Medium"/>
                <a:cs typeface="Urbanist Medium"/>
                <a:sym typeface="Urbanist Medium"/>
              </a:rPr>
              <a:t>DELETE Transaction</a:t>
            </a:r>
            <a:endParaRPr/>
          </a:p>
        </p:txBody>
      </p:sp>
      <p:sp>
        <p:nvSpPr>
          <p:cNvPr id="185" name="Google Shape;185;p18"/>
          <p:cNvSpPr txBox="1"/>
          <p:nvPr/>
        </p:nvSpPr>
        <p:spPr>
          <a:xfrm>
            <a:off x="1285875" y="2631281"/>
            <a:ext cx="1619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BEGIN TRANSACTION</a:t>
            </a:r>
            <a:endParaRPr/>
          </a:p>
        </p:txBody>
      </p:sp>
      <p:sp>
        <p:nvSpPr>
          <p:cNvPr id="186" name="Google Shape;186;p18"/>
          <p:cNvSpPr txBox="1"/>
          <p:nvPr/>
        </p:nvSpPr>
        <p:spPr>
          <a:xfrm>
            <a:off x="1285875" y="2845593"/>
            <a:ext cx="2762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1" lang="en-US" sz="1125" u="none" cap="none" strike="noStrike">
                <a:solidFill>
                  <a:srgbClr val="64748B"/>
                </a:solidFill>
                <a:latin typeface="Azeret Mono"/>
                <a:ea typeface="Azeret Mono"/>
                <a:cs typeface="Azeret Mono"/>
                <a:sym typeface="Azeret Mono"/>
              </a:rPr>
              <a:t>-- 1. Update story statistics</a:t>
            </a:r>
            <a:endParaRPr/>
          </a:p>
        </p:txBody>
      </p:sp>
      <p:sp>
        <p:nvSpPr>
          <p:cNvPr id="187" name="Google Shape;187;p18"/>
          <p:cNvSpPr txBox="1"/>
          <p:nvPr/>
        </p:nvSpPr>
        <p:spPr>
          <a:xfrm>
            <a:off x="1285875" y="3059906"/>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UPDATE</a:t>
            </a:r>
            <a:endParaRPr/>
          </a:p>
        </p:txBody>
      </p:sp>
      <p:sp>
        <p:nvSpPr>
          <p:cNvPr id="188" name="Google Shape;188;p18"/>
          <p:cNvSpPr txBox="1"/>
          <p:nvPr/>
        </p:nvSpPr>
        <p:spPr>
          <a:xfrm>
            <a:off x="1285875" y="3274218"/>
            <a:ext cx="285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SET</a:t>
            </a:r>
            <a:endParaRPr/>
          </a:p>
        </p:txBody>
      </p:sp>
      <p:sp>
        <p:nvSpPr>
          <p:cNvPr id="189" name="Google Shape;189;p18"/>
          <p:cNvSpPr txBox="1"/>
          <p:nvPr/>
        </p:nvSpPr>
        <p:spPr>
          <a:xfrm>
            <a:off x="1285875" y="3917156"/>
            <a:ext cx="476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WHERE</a:t>
            </a:r>
            <a:endParaRPr/>
          </a:p>
        </p:txBody>
      </p:sp>
      <p:sp>
        <p:nvSpPr>
          <p:cNvPr id="190" name="Google Shape;190;p18"/>
          <p:cNvSpPr txBox="1"/>
          <p:nvPr/>
        </p:nvSpPr>
        <p:spPr>
          <a:xfrm>
            <a:off x="1476375" y="4131468"/>
            <a:ext cx="285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AND</a:t>
            </a:r>
            <a:endParaRPr/>
          </a:p>
        </p:txBody>
      </p:sp>
      <p:sp>
        <p:nvSpPr>
          <p:cNvPr id="191" name="Google Shape;191;p18"/>
          <p:cNvSpPr txBox="1"/>
          <p:nvPr/>
        </p:nvSpPr>
        <p:spPr>
          <a:xfrm>
            <a:off x="2714625" y="4131468"/>
            <a:ext cx="190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a:t>
            </a:r>
            <a:endParaRPr/>
          </a:p>
        </p:txBody>
      </p:sp>
      <p:sp>
        <p:nvSpPr>
          <p:cNvPr id="192" name="Google Shape;192;p18"/>
          <p:cNvSpPr txBox="1"/>
          <p:nvPr/>
        </p:nvSpPr>
        <p:spPr>
          <a:xfrm>
            <a:off x="1285875" y="4560093"/>
            <a:ext cx="2381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1" lang="en-US" sz="1125" u="none" cap="none" strike="noStrike">
                <a:solidFill>
                  <a:srgbClr val="64748B"/>
                </a:solidFill>
                <a:latin typeface="Azeret Mono"/>
                <a:ea typeface="Azeret Mono"/>
                <a:cs typeface="Azeret Mono"/>
                <a:sym typeface="Azeret Mono"/>
              </a:rPr>
              <a:t>-- 2. Update user average</a:t>
            </a:r>
            <a:endParaRPr/>
          </a:p>
        </p:txBody>
      </p:sp>
      <p:sp>
        <p:nvSpPr>
          <p:cNvPr id="193" name="Google Shape;193;p18"/>
          <p:cNvSpPr txBox="1"/>
          <p:nvPr/>
        </p:nvSpPr>
        <p:spPr>
          <a:xfrm>
            <a:off x="1285875" y="4774406"/>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UPDATE</a:t>
            </a:r>
            <a:endParaRPr/>
          </a:p>
        </p:txBody>
      </p:sp>
      <p:sp>
        <p:nvSpPr>
          <p:cNvPr id="194" name="Google Shape;194;p18"/>
          <p:cNvSpPr txBox="1"/>
          <p:nvPr/>
        </p:nvSpPr>
        <p:spPr>
          <a:xfrm>
            <a:off x="1285875" y="4988718"/>
            <a:ext cx="285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SET</a:t>
            </a:r>
            <a:endParaRPr/>
          </a:p>
        </p:txBody>
      </p:sp>
      <p:sp>
        <p:nvSpPr>
          <p:cNvPr id="195" name="Google Shape;195;p18"/>
          <p:cNvSpPr txBox="1"/>
          <p:nvPr/>
        </p:nvSpPr>
        <p:spPr>
          <a:xfrm>
            <a:off x="1285875" y="5203031"/>
            <a:ext cx="476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WHERE</a:t>
            </a:r>
            <a:endParaRPr/>
          </a:p>
        </p:txBody>
      </p:sp>
      <p:sp>
        <p:nvSpPr>
          <p:cNvPr id="196" name="Google Shape;196;p18"/>
          <p:cNvSpPr txBox="1"/>
          <p:nvPr/>
        </p:nvSpPr>
        <p:spPr>
          <a:xfrm>
            <a:off x="1285875" y="5417343"/>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COMMIT</a:t>
            </a:r>
            <a:endParaRPr/>
          </a:p>
        </p:txBody>
      </p:sp>
      <p:sp>
        <p:nvSpPr>
          <p:cNvPr id="197" name="Google Shape;197;p18"/>
          <p:cNvSpPr txBox="1"/>
          <p:nvPr/>
        </p:nvSpPr>
        <p:spPr>
          <a:xfrm>
            <a:off x="7048500" y="2631281"/>
            <a:ext cx="1619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BEGIN TRANSACTION</a:t>
            </a:r>
            <a:endParaRPr/>
          </a:p>
        </p:txBody>
      </p:sp>
      <p:sp>
        <p:nvSpPr>
          <p:cNvPr id="198" name="Google Shape;198;p18"/>
          <p:cNvSpPr txBox="1"/>
          <p:nvPr/>
        </p:nvSpPr>
        <p:spPr>
          <a:xfrm>
            <a:off x="7048500" y="2845593"/>
            <a:ext cx="2952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1" lang="en-US" sz="1125" u="none" cap="none" strike="noStrike">
                <a:solidFill>
                  <a:srgbClr val="64748B"/>
                </a:solidFill>
                <a:latin typeface="Azeret Mono"/>
                <a:ea typeface="Azeret Mono"/>
                <a:cs typeface="Azeret Mono"/>
                <a:sym typeface="Azeret Mono"/>
              </a:rPr>
              <a:t>-- Safely handle child cascades</a:t>
            </a:r>
            <a:endParaRPr/>
          </a:p>
        </p:txBody>
      </p:sp>
      <p:sp>
        <p:nvSpPr>
          <p:cNvPr id="199" name="Google Shape;199;p18"/>
          <p:cNvSpPr txBox="1"/>
          <p:nvPr/>
        </p:nvSpPr>
        <p:spPr>
          <a:xfrm>
            <a:off x="7048500" y="3059906"/>
            <a:ext cx="1047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DELETE FROM</a:t>
            </a:r>
            <a:endParaRPr/>
          </a:p>
        </p:txBody>
      </p:sp>
      <p:sp>
        <p:nvSpPr>
          <p:cNvPr id="200" name="Google Shape;200;p18"/>
          <p:cNvSpPr txBox="1"/>
          <p:nvPr/>
        </p:nvSpPr>
        <p:spPr>
          <a:xfrm>
            <a:off x="7048500" y="3274218"/>
            <a:ext cx="476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WHERE</a:t>
            </a:r>
            <a:endParaRPr/>
          </a:p>
        </p:txBody>
      </p:sp>
      <p:sp>
        <p:nvSpPr>
          <p:cNvPr id="201" name="Google Shape;201;p18"/>
          <p:cNvSpPr txBox="1"/>
          <p:nvPr/>
        </p:nvSpPr>
        <p:spPr>
          <a:xfrm>
            <a:off x="8477250" y="3274218"/>
            <a:ext cx="190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IN</a:t>
            </a:r>
            <a:endParaRPr/>
          </a:p>
        </p:txBody>
      </p:sp>
      <p:sp>
        <p:nvSpPr>
          <p:cNvPr id="202" name="Google Shape;202;p18"/>
          <p:cNvSpPr txBox="1"/>
          <p:nvPr/>
        </p:nvSpPr>
        <p:spPr>
          <a:xfrm>
            <a:off x="7239000" y="3488531"/>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SELECT</a:t>
            </a:r>
            <a:endParaRPr/>
          </a:p>
        </p:txBody>
      </p:sp>
      <p:sp>
        <p:nvSpPr>
          <p:cNvPr id="203" name="Google Shape;203;p18"/>
          <p:cNvSpPr txBox="1"/>
          <p:nvPr/>
        </p:nvSpPr>
        <p:spPr>
          <a:xfrm>
            <a:off x="8763000" y="3488531"/>
            <a:ext cx="381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FROM</a:t>
            </a:r>
            <a:endParaRPr/>
          </a:p>
        </p:txBody>
      </p:sp>
      <p:sp>
        <p:nvSpPr>
          <p:cNvPr id="204" name="Google Shape;204;p18"/>
          <p:cNvSpPr txBox="1"/>
          <p:nvPr/>
        </p:nvSpPr>
        <p:spPr>
          <a:xfrm>
            <a:off x="7239000" y="3702843"/>
            <a:ext cx="476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WHERE</a:t>
            </a:r>
            <a:endParaRPr/>
          </a:p>
        </p:txBody>
      </p:sp>
      <p:sp>
        <p:nvSpPr>
          <p:cNvPr id="205" name="Google Shape;205;p18"/>
          <p:cNvSpPr txBox="1"/>
          <p:nvPr/>
        </p:nvSpPr>
        <p:spPr>
          <a:xfrm>
            <a:off x="7048500" y="4345781"/>
            <a:ext cx="22860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1" lang="en-US" sz="1125" u="none" cap="none" strike="noStrike">
                <a:solidFill>
                  <a:srgbClr val="64748B"/>
                </a:solidFill>
                <a:latin typeface="Azeret Mono"/>
                <a:ea typeface="Azeret Mono"/>
                <a:cs typeface="Azeret Mono"/>
                <a:sym typeface="Azeret Mono"/>
              </a:rPr>
              <a:t>-- Remove parent records</a:t>
            </a:r>
            <a:endParaRPr/>
          </a:p>
        </p:txBody>
      </p:sp>
      <p:sp>
        <p:nvSpPr>
          <p:cNvPr id="206" name="Google Shape;206;p18"/>
          <p:cNvSpPr txBox="1"/>
          <p:nvPr/>
        </p:nvSpPr>
        <p:spPr>
          <a:xfrm>
            <a:off x="7048500" y="4560093"/>
            <a:ext cx="1047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DELETE FROM</a:t>
            </a:r>
            <a:endParaRPr/>
          </a:p>
        </p:txBody>
      </p:sp>
      <p:sp>
        <p:nvSpPr>
          <p:cNvPr id="207" name="Google Shape;207;p18"/>
          <p:cNvSpPr txBox="1"/>
          <p:nvPr/>
        </p:nvSpPr>
        <p:spPr>
          <a:xfrm>
            <a:off x="7048500" y="4774406"/>
            <a:ext cx="476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WHERE</a:t>
            </a:r>
            <a:endParaRPr/>
          </a:p>
        </p:txBody>
      </p:sp>
      <p:sp>
        <p:nvSpPr>
          <p:cNvPr id="208" name="Google Shape;208;p18"/>
          <p:cNvSpPr txBox="1"/>
          <p:nvPr/>
        </p:nvSpPr>
        <p:spPr>
          <a:xfrm>
            <a:off x="7048500" y="5203031"/>
            <a:ext cx="10477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DELETE FROM</a:t>
            </a:r>
            <a:endParaRPr/>
          </a:p>
        </p:txBody>
      </p:sp>
      <p:sp>
        <p:nvSpPr>
          <p:cNvPr id="209" name="Google Shape;209;p18"/>
          <p:cNvSpPr txBox="1"/>
          <p:nvPr/>
        </p:nvSpPr>
        <p:spPr>
          <a:xfrm>
            <a:off x="7048500" y="5417343"/>
            <a:ext cx="47625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WHERE</a:t>
            </a:r>
            <a:endParaRPr/>
          </a:p>
        </p:txBody>
      </p:sp>
      <p:sp>
        <p:nvSpPr>
          <p:cNvPr id="210" name="Google Shape;210;p18"/>
          <p:cNvSpPr txBox="1"/>
          <p:nvPr/>
        </p:nvSpPr>
        <p:spPr>
          <a:xfrm>
            <a:off x="7048500" y="5631656"/>
            <a:ext cx="571500" cy="1619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38BDF8"/>
                </a:solidFill>
                <a:latin typeface="Azeret Mono Medium"/>
                <a:ea typeface="Azeret Mono Medium"/>
                <a:cs typeface="Azeret Mono Medium"/>
                <a:sym typeface="Azeret Mono Medium"/>
              </a:rPr>
              <a:t>COMMIT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14" name="Shape 214"/>
        <p:cNvGrpSpPr/>
        <p:nvPr/>
      </p:nvGrpSpPr>
      <p:grpSpPr>
        <a:xfrm>
          <a:off x="0" y="0"/>
          <a:ext cx="0" cy="0"/>
          <a:chOff x="0" y="0"/>
          <a:chExt cx="0" cy="0"/>
        </a:xfrm>
      </p:grpSpPr>
      <p:sp>
        <p:nvSpPr>
          <p:cNvPr id="215" name="Google Shape;215;p19"/>
          <p:cNvSpPr txBox="1"/>
          <p:nvPr/>
        </p:nvSpPr>
        <p:spPr>
          <a:xfrm>
            <a:off x="2610564" y="2676525"/>
            <a:ext cx="6970871"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000" u="none" cap="none" strike="noStrike">
                <a:solidFill>
                  <a:srgbClr val="F8FAFC"/>
                </a:solidFill>
                <a:latin typeface="Urbanist Medium"/>
                <a:ea typeface="Urbanist Medium"/>
                <a:cs typeface="Urbanist Medium"/>
                <a:sym typeface="Urbanist Medium"/>
              </a:rPr>
              <a:t>Live </a:t>
            </a:r>
            <a:r>
              <a:rPr b="0" i="0" lang="en-US" sz="6000" u="none" cap="none" strike="noStrike">
                <a:solidFill>
                  <a:srgbClr val="10B981"/>
                </a:solidFill>
                <a:latin typeface="Urbanist Medium"/>
                <a:ea typeface="Urbanist Medium"/>
                <a:cs typeface="Urbanist Medium"/>
                <a:sym typeface="Urbanist Medium"/>
              </a:rPr>
              <a:t>Demo</a:t>
            </a:r>
            <a:endParaRPr/>
          </a:p>
        </p:txBody>
      </p:sp>
      <p:sp>
        <p:nvSpPr>
          <p:cNvPr id="216" name="Google Shape;216;p19"/>
          <p:cNvSpPr txBox="1"/>
          <p:nvPr/>
        </p:nvSpPr>
        <p:spPr>
          <a:xfrm>
            <a:off x="2776537" y="3781425"/>
            <a:ext cx="6638925" cy="4000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100" u="none" cap="none" strike="noStrike">
                <a:solidFill>
                  <a:srgbClr val="10B981"/>
                </a:solidFill>
                <a:latin typeface="Urbanist Medium"/>
                <a:ea typeface="Urbanist Medium"/>
                <a:cs typeface="Urbanist Medium"/>
                <a:sym typeface="Urbanist Medium"/>
              </a:rPr>
              <a:t>Empty Database ➔ Schema Initialized ➔ CRUD Verified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0" name="Shape 220"/>
        <p:cNvGrpSpPr/>
        <p:nvPr/>
      </p:nvGrpSpPr>
      <p:grpSpPr>
        <a:xfrm>
          <a:off x="0" y="0"/>
          <a:ext cx="0" cy="0"/>
          <a:chOff x="0" y="0"/>
          <a:chExt cx="0" cy="0"/>
        </a:xfrm>
      </p:grpSpPr>
      <p:pic>
        <p:nvPicPr>
          <p:cNvPr descr="image.png" id="221" name="Google Shape;22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2" name="Google Shape;222;p20"/>
          <p:cNvPicPr preferRelativeResize="0"/>
          <p:nvPr/>
        </p:nvPicPr>
        <p:blipFill rotWithShape="1">
          <a:blip r:embed="rId4">
            <a:alphaModFix/>
          </a:blip>
          <a:srcRect b="0" l="0" r="0" t="0"/>
          <a:stretch/>
        </p:blipFill>
        <p:spPr>
          <a:xfrm>
            <a:off x="2714625" y="4086225"/>
            <a:ext cx="6762750" cy="514350"/>
          </a:xfrm>
          <a:prstGeom prst="rect">
            <a:avLst/>
          </a:prstGeom>
          <a:noFill/>
          <a:ln>
            <a:noFill/>
          </a:ln>
        </p:spPr>
      </p:pic>
      <p:sp>
        <p:nvSpPr>
          <p:cNvPr id="223" name="Google Shape;223;p20"/>
          <p:cNvSpPr txBox="1"/>
          <p:nvPr/>
        </p:nvSpPr>
        <p:spPr>
          <a:xfrm>
            <a:off x="295275" y="2257425"/>
            <a:ext cx="11601450"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000" u="none" cap="none" strike="noStrike">
                <a:solidFill>
                  <a:srgbClr val="F8FAFC"/>
                </a:solidFill>
                <a:latin typeface="Urbanist Medium"/>
                <a:ea typeface="Urbanist Medium"/>
                <a:cs typeface="Urbanist Medium"/>
                <a:sym typeface="Urbanist Medium"/>
              </a:rPr>
              <a:t>Questions?</a:t>
            </a:r>
            <a:endParaRPr/>
          </a:p>
        </p:txBody>
      </p:sp>
      <p:sp>
        <p:nvSpPr>
          <p:cNvPr id="224" name="Google Shape;224;p20"/>
          <p:cNvSpPr txBox="1"/>
          <p:nvPr/>
        </p:nvSpPr>
        <p:spPr>
          <a:xfrm>
            <a:off x="571500" y="3362325"/>
            <a:ext cx="11049000"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CBD5E1"/>
                </a:solidFill>
                <a:latin typeface="Urbanist"/>
                <a:ea typeface="Urbanist"/>
                <a:cs typeface="Urbanist"/>
                <a:sym typeface="Urbanist"/>
              </a:rPr>
              <a:t>Thank you for your feedback.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